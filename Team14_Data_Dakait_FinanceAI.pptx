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3F821C-465C-1748-14A6-D09315B755E9}" v="6" dt="2026-04-10T05:27:54.940"/>
    <p1510:client id="{E546F594-C81A-A368-5BC9-56CBF43FC265}" v="168" dt="2026-04-10T05:35:11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nesh Athankar" userId="S::bunesh.athankar@3scsolution.com::e963610e-24bb-4f0c-b400-9a429da81ac0" providerId="AD" clId="Web-{373F821C-465C-1748-14A6-D09315B755E9}"/>
    <pc:docChg chg="addSld modSld sldOrd">
      <pc:chgData name="Bunesh Athankar" userId="S::bunesh.athankar@3scsolution.com::e963610e-24bb-4f0c-b400-9a429da81ac0" providerId="AD" clId="Web-{373F821C-465C-1748-14A6-D09315B755E9}" dt="2026-04-10T05:27:54.940" v="5"/>
      <pc:docMkLst>
        <pc:docMk/>
      </pc:docMkLst>
      <pc:sldChg chg="addSp modSp">
        <pc:chgData name="Bunesh Athankar" userId="S::bunesh.athankar@3scsolution.com::e963610e-24bb-4f0c-b400-9a429da81ac0" providerId="AD" clId="Web-{373F821C-465C-1748-14A6-D09315B755E9}" dt="2026-04-10T05:27:54.940" v="5"/>
        <pc:sldMkLst>
          <pc:docMk/>
          <pc:sldMk cId="0" sldId="256"/>
        </pc:sldMkLst>
        <pc:spChg chg="add mod">
          <ac:chgData name="Bunesh Athankar" userId="S::bunesh.athankar@3scsolution.com::e963610e-24bb-4f0c-b400-9a429da81ac0" providerId="AD" clId="Web-{373F821C-465C-1748-14A6-D09315B755E9}" dt="2026-04-10T05:27:54.940" v="5"/>
          <ac:spMkLst>
            <pc:docMk/>
            <pc:sldMk cId="0" sldId="256"/>
            <ac:spMk id="2" creationId="{A1FC75F6-7D42-6B67-4F18-7E9343879101}"/>
          </ac:spMkLst>
        </pc:spChg>
      </pc:sldChg>
      <pc:sldChg chg="modSp">
        <pc:chgData name="Bunesh Athankar" userId="S::bunesh.athankar@3scsolution.com::e963610e-24bb-4f0c-b400-9a429da81ac0" providerId="AD" clId="Web-{373F821C-465C-1748-14A6-D09315B755E9}" dt="2026-04-10T05:25:54.345" v="0" actId="20577"/>
        <pc:sldMkLst>
          <pc:docMk/>
          <pc:sldMk cId="0" sldId="262"/>
        </pc:sldMkLst>
        <pc:spChg chg="mod">
          <ac:chgData name="Bunesh Athankar" userId="S::bunesh.athankar@3scsolution.com::e963610e-24bb-4f0c-b400-9a429da81ac0" providerId="AD" clId="Web-{373F821C-465C-1748-14A6-D09315B755E9}" dt="2026-04-10T05:25:54.345" v="0" actId="20577"/>
          <ac:spMkLst>
            <pc:docMk/>
            <pc:sldMk cId="0" sldId="262"/>
            <ac:spMk id="45" creationId="{00000000-0000-0000-0000-000000000000}"/>
          </ac:spMkLst>
        </pc:spChg>
      </pc:sldChg>
      <pc:sldChg chg="add ord replId">
        <pc:chgData name="Bunesh Athankar" userId="S::bunesh.athankar@3scsolution.com::e963610e-24bb-4f0c-b400-9a429da81ac0" providerId="AD" clId="Web-{373F821C-465C-1748-14A6-D09315B755E9}" dt="2026-04-10T05:27:00.002" v="2"/>
        <pc:sldMkLst>
          <pc:docMk/>
          <pc:sldMk cId="2956960974" sldId="264"/>
        </pc:sldMkLst>
      </pc:sldChg>
    </pc:docChg>
  </pc:docChgLst>
  <pc:docChgLst>
    <pc:chgData name="Bunesh Athankar" userId="S::bunesh.athankar@3scsolution.com::e963610e-24bb-4f0c-b400-9a429da81ac0" providerId="AD" clId="Web-{E546F594-C81A-A368-5BC9-56CBF43FC265}"/>
    <pc:docChg chg="addSld delSld modSld">
      <pc:chgData name="Bunesh Athankar" userId="S::bunesh.athankar@3scsolution.com::e963610e-24bb-4f0c-b400-9a429da81ac0" providerId="AD" clId="Web-{E546F594-C81A-A368-5BC9-56CBF43FC265}" dt="2026-04-10T05:35:11.142" v="134"/>
      <pc:docMkLst>
        <pc:docMk/>
      </pc:docMkLst>
      <pc:sldChg chg="addSp delSp modSp add del">
        <pc:chgData name="Bunesh Athankar" userId="S::bunesh.athankar@3scsolution.com::e963610e-24bb-4f0c-b400-9a429da81ac0" providerId="AD" clId="Web-{E546F594-C81A-A368-5BC9-56CBF43FC265}" dt="2026-04-10T05:28:44.783" v="6" actId="1076"/>
        <pc:sldMkLst>
          <pc:docMk/>
          <pc:sldMk cId="0" sldId="256"/>
        </pc:sldMkLst>
        <pc:spChg chg="del">
          <ac:chgData name="Bunesh Athankar" userId="S::bunesh.athankar@3scsolution.com::e963610e-24bb-4f0c-b400-9a429da81ac0" providerId="AD" clId="Web-{E546F594-C81A-A368-5BC9-56CBF43FC265}" dt="2026-04-10T05:28:19.298" v="2"/>
          <ac:spMkLst>
            <pc:docMk/>
            <pc:sldMk cId="0" sldId="256"/>
            <ac:spMk id="2" creationId="{A1FC75F6-7D42-6B67-4F18-7E9343879101}"/>
          </ac:spMkLst>
        </pc:spChg>
        <pc:picChg chg="add mod">
          <ac:chgData name="Bunesh Athankar" userId="S::bunesh.athankar@3scsolution.com::e963610e-24bb-4f0c-b400-9a429da81ac0" providerId="AD" clId="Web-{E546F594-C81A-A368-5BC9-56CBF43FC265}" dt="2026-04-10T05:28:44.783" v="6" actId="1076"/>
          <ac:picMkLst>
            <pc:docMk/>
            <pc:sldMk cId="0" sldId="256"/>
            <ac:picMk id="3" creationId="{BF44B4C1-66DA-FC67-E6C5-10594501344F}"/>
          </ac:picMkLst>
        </pc:picChg>
      </pc:sldChg>
      <pc:sldChg chg="addSp delSp modSp add del replId">
        <pc:chgData name="Bunesh Athankar" userId="S::bunesh.athankar@3scsolution.com::e963610e-24bb-4f0c-b400-9a429da81ac0" providerId="AD" clId="Web-{E546F594-C81A-A368-5BC9-56CBF43FC265}" dt="2026-04-10T05:35:11.142" v="134"/>
        <pc:sldMkLst>
          <pc:docMk/>
          <pc:sldMk cId="261096578" sldId="264"/>
        </pc:sldMkLst>
        <pc:spChg chg="del">
          <ac:chgData name="Bunesh Athankar" userId="S::bunesh.athankar@3scsolution.com::e963610e-24bb-4f0c-b400-9a429da81ac0" providerId="AD" clId="Web-{E546F594-C81A-A368-5BC9-56CBF43FC265}" dt="2026-04-10T05:33:11.914" v="115"/>
          <ac:spMkLst>
            <pc:docMk/>
            <pc:sldMk cId="261096578" sldId="264"/>
            <ac:spMk id="2" creationId="{CC7E2E2E-D2AB-3714-271F-F9A801B6767F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11.914" v="114"/>
          <ac:spMkLst>
            <pc:docMk/>
            <pc:sldMk cId="261096578" sldId="264"/>
            <ac:spMk id="3" creationId="{C63B7BB4-2A8D-A86D-0112-7A3A86404A90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113"/>
          <ac:spMkLst>
            <pc:docMk/>
            <pc:sldMk cId="261096578" sldId="264"/>
            <ac:spMk id="4" creationId="{229F8AAF-3123-727C-988F-55E91CACDB5D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112"/>
          <ac:spMkLst>
            <pc:docMk/>
            <pc:sldMk cId="261096578" sldId="264"/>
            <ac:spMk id="5" creationId="{7BDD72EB-F23F-B016-F774-B379C91D7ACB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110"/>
          <ac:spMkLst>
            <pc:docMk/>
            <pc:sldMk cId="261096578" sldId="264"/>
            <ac:spMk id="7" creationId="{D7A2C163-F888-910C-C014-6C7D8DC3A34A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3.038" v="73"/>
          <ac:spMkLst>
            <pc:docMk/>
            <pc:sldMk cId="261096578" sldId="264"/>
            <ac:spMk id="8" creationId="{B4940126-F4DB-E06A-D92D-86BCC12D41C9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108"/>
          <ac:spMkLst>
            <pc:docMk/>
            <pc:sldMk cId="261096578" sldId="264"/>
            <ac:spMk id="10" creationId="{1AB2DD41-CC91-33EB-4378-3C695745F7BB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107"/>
          <ac:spMkLst>
            <pc:docMk/>
            <pc:sldMk cId="261096578" sldId="264"/>
            <ac:spMk id="11" creationId="{E45BA535-D200-436B-B5C2-8B59A32C5CAF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106"/>
          <ac:spMkLst>
            <pc:docMk/>
            <pc:sldMk cId="261096578" sldId="264"/>
            <ac:spMk id="12" creationId="{E61DA356-3A72-3114-77EA-0F1D1EF4F14A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105"/>
          <ac:spMkLst>
            <pc:docMk/>
            <pc:sldMk cId="261096578" sldId="264"/>
            <ac:spMk id="13" creationId="{B9D04616-773D-C852-03E7-4B18988EA897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104"/>
          <ac:spMkLst>
            <pc:docMk/>
            <pc:sldMk cId="261096578" sldId="264"/>
            <ac:spMk id="14" creationId="{8749DB97-E7B8-56C8-D8BE-A631504E8EA8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103"/>
          <ac:spMkLst>
            <pc:docMk/>
            <pc:sldMk cId="261096578" sldId="264"/>
            <ac:spMk id="15" creationId="{9BCD259A-40FF-3543-6B10-19857ABA112F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102"/>
          <ac:spMkLst>
            <pc:docMk/>
            <pc:sldMk cId="261096578" sldId="264"/>
            <ac:spMk id="16" creationId="{AFB92983-D3C7-42E9-B26F-455109BFFBC9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101"/>
          <ac:spMkLst>
            <pc:docMk/>
            <pc:sldMk cId="261096578" sldId="264"/>
            <ac:spMk id="17" creationId="{5C22723A-BB86-53FE-0407-D21D3E0465FB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100"/>
          <ac:spMkLst>
            <pc:docMk/>
            <pc:sldMk cId="261096578" sldId="264"/>
            <ac:spMk id="18" creationId="{7C6FECBF-DA01-0F43-DE8A-1FE74F9A9A86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99"/>
          <ac:spMkLst>
            <pc:docMk/>
            <pc:sldMk cId="261096578" sldId="264"/>
            <ac:spMk id="19" creationId="{2129D20D-C8D6-E2AD-70D1-5E19EF9182E4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98"/>
          <ac:spMkLst>
            <pc:docMk/>
            <pc:sldMk cId="261096578" sldId="264"/>
            <ac:spMk id="20" creationId="{3F52E4E6-D959-4C90-18DC-60862311187E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96"/>
          <ac:spMkLst>
            <pc:docMk/>
            <pc:sldMk cId="261096578" sldId="264"/>
            <ac:spMk id="22" creationId="{B20C0E2B-0836-ED37-9DA1-DFD54B218D58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95"/>
          <ac:spMkLst>
            <pc:docMk/>
            <pc:sldMk cId="261096578" sldId="264"/>
            <ac:spMk id="23" creationId="{6E6AB7BB-27FC-6BB7-4B06-CE53EBCAB40C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94"/>
          <ac:spMkLst>
            <pc:docMk/>
            <pc:sldMk cId="261096578" sldId="264"/>
            <ac:spMk id="24" creationId="{6047A2EB-2D70-1B4F-D1B6-E9E81D603E95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93"/>
          <ac:spMkLst>
            <pc:docMk/>
            <pc:sldMk cId="261096578" sldId="264"/>
            <ac:spMk id="25" creationId="{B56A1E88-4E65-B392-4028-A1F006F0A525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92"/>
          <ac:spMkLst>
            <pc:docMk/>
            <pc:sldMk cId="261096578" sldId="264"/>
            <ac:spMk id="26" creationId="{3C09D1F8-8334-FB16-7685-EA0F884F79FE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91"/>
          <ac:spMkLst>
            <pc:docMk/>
            <pc:sldMk cId="261096578" sldId="264"/>
            <ac:spMk id="27" creationId="{70F8DEB0-CC32-B8F9-AC06-592CDBC1CDC5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90"/>
          <ac:spMkLst>
            <pc:docMk/>
            <pc:sldMk cId="261096578" sldId="264"/>
            <ac:spMk id="28" creationId="{5D52467E-2D02-0639-C39C-E72B97402E88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89"/>
          <ac:spMkLst>
            <pc:docMk/>
            <pc:sldMk cId="261096578" sldId="264"/>
            <ac:spMk id="29" creationId="{ADB66644-5AD9-1712-E4F6-6860C6092A6A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88"/>
          <ac:spMkLst>
            <pc:docMk/>
            <pc:sldMk cId="261096578" sldId="264"/>
            <ac:spMk id="30" creationId="{E7D57915-0C32-CD00-ACD3-19F7DE082FA3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87"/>
          <ac:spMkLst>
            <pc:docMk/>
            <pc:sldMk cId="261096578" sldId="264"/>
            <ac:spMk id="31" creationId="{EF0BD3C6-E919-E1A0-1A91-F19AFC895C60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86"/>
          <ac:spMkLst>
            <pc:docMk/>
            <pc:sldMk cId="261096578" sldId="264"/>
            <ac:spMk id="32" creationId="{038EE411-C95C-12FC-A41C-1C1739F1191C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84"/>
          <ac:spMkLst>
            <pc:docMk/>
            <pc:sldMk cId="261096578" sldId="264"/>
            <ac:spMk id="34" creationId="{154B2FAE-2961-FBC9-DB8B-3B6701A5AEAB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83"/>
          <ac:spMkLst>
            <pc:docMk/>
            <pc:sldMk cId="261096578" sldId="264"/>
            <ac:spMk id="35" creationId="{83C6C967-B995-6EAF-E70E-31FCAC605D04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82"/>
          <ac:spMkLst>
            <pc:docMk/>
            <pc:sldMk cId="261096578" sldId="264"/>
            <ac:spMk id="36" creationId="{9043C9B6-71DF-458E-3F9C-6B08F6EC6AD6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81"/>
          <ac:spMkLst>
            <pc:docMk/>
            <pc:sldMk cId="261096578" sldId="264"/>
            <ac:spMk id="37" creationId="{8761F422-A6D9-2843-4EAD-6AE5BE56FB08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80"/>
          <ac:spMkLst>
            <pc:docMk/>
            <pc:sldMk cId="261096578" sldId="264"/>
            <ac:spMk id="38" creationId="{3DBE9948-A271-A5B7-3172-371A1112E802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79"/>
          <ac:spMkLst>
            <pc:docMk/>
            <pc:sldMk cId="261096578" sldId="264"/>
            <ac:spMk id="39" creationId="{A00B4C83-AE8C-A536-8E69-774ABB2E2F5F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17" v="78"/>
          <ac:spMkLst>
            <pc:docMk/>
            <pc:sldMk cId="261096578" sldId="264"/>
            <ac:spMk id="40" creationId="{55BB655D-9CC0-3D64-A1C3-ACBE6E326394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01" v="77"/>
          <ac:spMkLst>
            <pc:docMk/>
            <pc:sldMk cId="261096578" sldId="264"/>
            <ac:spMk id="41" creationId="{FF311433-80A7-0D13-651A-5E9A0EB5097F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01" v="76"/>
          <ac:spMkLst>
            <pc:docMk/>
            <pc:sldMk cId="261096578" sldId="264"/>
            <ac:spMk id="42" creationId="{22A43DC1-50FA-25CE-DB33-EB2846F18E43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01" v="75"/>
          <ac:spMkLst>
            <pc:docMk/>
            <pc:sldMk cId="261096578" sldId="264"/>
            <ac:spMk id="43" creationId="{3A4149B5-3ACB-0F4B-3351-B7D006DEFB32}"/>
          </ac:spMkLst>
        </pc:spChg>
        <pc:spChg chg="del">
          <ac:chgData name="Bunesh Athankar" userId="S::bunesh.athankar@3scsolution.com::e963610e-24bb-4f0c-b400-9a429da81ac0" providerId="AD" clId="Web-{E546F594-C81A-A368-5BC9-56CBF43FC265}" dt="2026-04-10T05:33:08.601" v="74"/>
          <ac:spMkLst>
            <pc:docMk/>
            <pc:sldMk cId="261096578" sldId="264"/>
            <ac:spMk id="44" creationId="{95DEA77A-52F5-8E37-F2C8-44BA922F429E}"/>
          </ac:spMkLst>
        </pc:spChg>
        <pc:spChg chg="add mod">
          <ac:chgData name="Bunesh Athankar" userId="S::bunesh.athankar@3scsolution.com::e963610e-24bb-4f0c-b400-9a429da81ac0" providerId="AD" clId="Web-{E546F594-C81A-A368-5BC9-56CBF43FC265}" dt="2026-04-10T05:35:08.798" v="133" actId="1076"/>
          <ac:spMkLst>
            <pc:docMk/>
            <pc:sldMk cId="261096578" sldId="264"/>
            <ac:spMk id="45" creationId="{1D044953-A2F3-6363-F81D-78B11EAC00BE}"/>
          </ac:spMkLst>
        </pc:spChg>
        <pc:picChg chg="del">
          <ac:chgData name="Bunesh Athankar" userId="S::bunesh.athankar@3scsolution.com::e963610e-24bb-4f0c-b400-9a429da81ac0" providerId="AD" clId="Web-{E546F594-C81A-A368-5BC9-56CBF43FC265}" dt="2026-04-10T05:33:08.617" v="111"/>
          <ac:picMkLst>
            <pc:docMk/>
            <pc:sldMk cId="261096578" sldId="264"/>
            <ac:picMk id="6" creationId="{75ECDC91-9DA6-1D10-55E5-FB87CB1D0092}"/>
          </ac:picMkLst>
        </pc:picChg>
        <pc:picChg chg="del">
          <ac:chgData name="Bunesh Athankar" userId="S::bunesh.athankar@3scsolution.com::e963610e-24bb-4f0c-b400-9a429da81ac0" providerId="AD" clId="Web-{E546F594-C81A-A368-5BC9-56CBF43FC265}" dt="2026-04-10T05:33:08.617" v="109"/>
          <ac:picMkLst>
            <pc:docMk/>
            <pc:sldMk cId="261096578" sldId="264"/>
            <ac:picMk id="9" creationId="{87DC9E9C-6A0E-78C0-E06C-F3A977B9BF01}"/>
          </ac:picMkLst>
        </pc:picChg>
        <pc:picChg chg="del">
          <ac:chgData name="Bunesh Athankar" userId="S::bunesh.athankar@3scsolution.com::e963610e-24bb-4f0c-b400-9a429da81ac0" providerId="AD" clId="Web-{E546F594-C81A-A368-5BC9-56CBF43FC265}" dt="2026-04-10T05:33:08.617" v="97"/>
          <ac:picMkLst>
            <pc:docMk/>
            <pc:sldMk cId="261096578" sldId="264"/>
            <ac:picMk id="21" creationId="{161487A4-5167-E7EE-4F41-70B0CA67DFAC}"/>
          </ac:picMkLst>
        </pc:picChg>
        <pc:picChg chg="del">
          <ac:chgData name="Bunesh Athankar" userId="S::bunesh.athankar@3scsolution.com::e963610e-24bb-4f0c-b400-9a429da81ac0" providerId="AD" clId="Web-{E546F594-C81A-A368-5BC9-56CBF43FC265}" dt="2026-04-10T05:33:08.617" v="85"/>
          <ac:picMkLst>
            <pc:docMk/>
            <pc:sldMk cId="261096578" sldId="264"/>
            <ac:picMk id="33" creationId="{475C9989-2D1F-6B56-399B-BA02279C52E3}"/>
          </ac:picMkLst>
        </pc:picChg>
      </pc:sldChg>
      <pc:sldChg chg="addSp delSp modSp del">
        <pc:chgData name="Bunesh Athankar" userId="S::bunesh.athankar@3scsolution.com::e963610e-24bb-4f0c-b400-9a429da81ac0" providerId="AD" clId="Web-{E546F594-C81A-A368-5BC9-56CBF43FC265}" dt="2026-04-10T05:32:53.709" v="71"/>
        <pc:sldMkLst>
          <pc:docMk/>
          <pc:sldMk cId="2956960974" sldId="264"/>
        </pc:sldMkLst>
        <pc:spChg chg="add del mod">
          <ac:chgData name="Bunesh Athankar" userId="S::bunesh.athankar@3scsolution.com::e963610e-24bb-4f0c-b400-9a429da81ac0" providerId="AD" clId="Web-{E546F594-C81A-A368-5BC9-56CBF43FC265}" dt="2026-04-10T05:32:18.268" v="51"/>
          <ac:spMkLst>
            <pc:docMk/>
            <pc:sldMk cId="2956960974" sldId="264"/>
            <ac:spMk id="5" creationId="{7E95AB8C-1288-44D3-7FEC-24A232706754}"/>
          </ac:spMkLst>
        </pc:spChg>
        <pc:picChg chg="add del mod">
          <ac:chgData name="Bunesh Athankar" userId="S::bunesh.athankar@3scsolution.com::e963610e-24bb-4f0c-b400-9a429da81ac0" providerId="AD" clId="Web-{E546F594-C81A-A368-5BC9-56CBF43FC265}" dt="2026-04-10T05:30:02.752" v="12"/>
          <ac:picMkLst>
            <pc:docMk/>
            <pc:sldMk cId="2956960974" sldId="264"/>
            <ac:picMk id="2" creationId="{339CDA99-9394-7788-36E6-256D24B1A390}"/>
          </ac:picMkLst>
        </pc:picChg>
        <pc:picChg chg="add mod">
          <ac:chgData name="Bunesh Athankar" userId="S::bunesh.athankar@3scsolution.com::e963610e-24bb-4f0c-b400-9a429da81ac0" providerId="AD" clId="Web-{E546F594-C81A-A368-5BC9-56CBF43FC265}" dt="2026-04-10T05:32:42.317" v="64" actId="14100"/>
          <ac:picMkLst>
            <pc:docMk/>
            <pc:sldMk cId="2956960974" sldId="264"/>
            <ac:picMk id="3" creationId="{0A08257B-F297-6654-44F9-926E1EF69418}"/>
          </ac:picMkLst>
        </pc:picChg>
        <pc:picChg chg="add mod">
          <ac:chgData name="Bunesh Athankar" userId="S::bunesh.athankar@3scsolution.com::e963610e-24bb-4f0c-b400-9a429da81ac0" providerId="AD" clId="Web-{E546F594-C81A-A368-5BC9-56CBF43FC265}" dt="2026-04-10T05:32:47.724" v="70" actId="14100"/>
          <ac:picMkLst>
            <pc:docMk/>
            <pc:sldMk cId="2956960974" sldId="264"/>
            <ac:picMk id="4" creationId="{DDEFECA7-C8D0-8F5C-E237-448AF7164AA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181E4-4114-4627-9453-C700FD29ACC4}" type="datetimeFigureOut"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07E69-F47A-4BDA-A36D-A4C7A5596E4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49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urface with black dots&#10;&#10;AI-generated content may be incorrect.">
            <a:extLst>
              <a:ext uri="{FF2B5EF4-FFF2-40B4-BE49-F238E27FC236}">
                <a16:creationId xmlns:a16="http://schemas.microsoft.com/office/drawing/2014/main" id="{BF44B4C1-66DA-FC67-E6C5-105945013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3823" y="6315706"/>
            <a:ext cx="1247775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Finance Stops Being Manual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pic>
        <p:nvPicPr>
          <p:cNvPr id="6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556248"/>
            <a:ext cx="868680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Sustainable Value  ·  3SC × Data Dakait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at growing enterprises waste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5303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60–70%</a:t>
            </a:r>
            <a:endParaRPr lang="en-US" sz="9200" dirty="0"/>
          </a:p>
        </p:txBody>
      </p:sp>
      <p:sp>
        <p:nvSpPr>
          <p:cNvPr id="10" name="Text 7"/>
          <p:cNvSpPr/>
          <p:nvPr/>
        </p:nvSpPr>
        <p:spPr>
          <a:xfrm>
            <a:off x="548640" y="3063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their time on repetitive, error-prone manual work 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3375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vendor bills, chasing approvals, matching payments, and answering the same data questions over and over.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1645920"/>
            <a:ext cx="0" cy="4480560"/>
          </a:xfrm>
          <a:prstGeom prst="line">
            <a:avLst/>
          </a:prstGeom>
          <a:noFill/>
          <a:ln w="12700">
            <a:solidFill>
              <a:srgbClr val="D6CFC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6520" y="1645920"/>
            <a:ext cx="2697480" cy="141732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1051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1764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bill processing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83680" y="22128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hrs/week lost to email → forward → re-type into ERP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281160" y="1645920"/>
            <a:ext cx="2697480" cy="141732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1810512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29800" y="1764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Approvals in WhatsApp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418320" y="22128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trail; bills stuck 2–3 weeks on average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446520" y="3246120"/>
            <a:ext cx="2697480" cy="141732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410712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3364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overruns found late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583680" y="38130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 overspend undetected until quarter-end*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281160" y="3246120"/>
            <a:ext cx="2697480" cy="141732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0" y="341071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9800" y="3364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deadlines missed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418320" y="38130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GST, TDS, MSME 45-day rule tracked by hand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446520" y="4846320"/>
            <a:ext cx="2697480" cy="141732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010912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95160" y="4965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bank-change fraud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583680" y="54132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cooling period; no verification call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9281160" y="4846320"/>
            <a:ext cx="2697480" cy="141732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0" y="5010912"/>
            <a:ext cx="320040" cy="32004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829800" y="4965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&amp; inflated bills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9418320" y="541324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Spot-checks only; no anomaly detection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3SC internal finance operations estimate, FRD v2.0 (Apr 2026). Percentages reflect 3SC's own baseline, not a published benchmark.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Layer That Sits on Top of Your ERP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pic>
        <p:nvPicPr>
          <p:cNvPr id="6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556248"/>
            <a:ext cx="868680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Sustainable Value  ·  3SC × Data Dakait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691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FinanceAI </a:t>
            </a:r>
            <a:r>
              <a:rPr lang="en-US" sz="1400" i="1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40-hour manual workflows into 40-minute self-service ones — with built-in fraud detection, compliance enforcement, and a CFO copilot that answers questions in plain English.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5623560" cy="150876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697480"/>
            <a:ext cx="73152" cy="1508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8072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86207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3081528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AI-first Ingestion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77240" y="352044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self-submit bills. Claude Sonnet 4 Vision extracts every field automatically. Zero re-typing.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55080" y="2697480"/>
            <a:ext cx="5623560" cy="150876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55080" y="2697480"/>
            <a:ext cx="73152" cy="1508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83680" y="28072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4280" y="286207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83680" y="3081528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Workflows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583680" y="352044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6-step approval engine with real-time budget checks, anomaly detection, and hard-coded Segregation of Duties.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389120"/>
            <a:ext cx="5623560" cy="150876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8640" y="4389120"/>
            <a:ext cx="73152" cy="1508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7240" y="44988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455371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7240" y="4773168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Always-on Compliance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77240" y="521208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45-day rule, GST prep, TDS, and Section 43B exposure monitored automatically. Human CAs still file.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355080" y="4389120"/>
            <a:ext cx="5623560" cy="150876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355080" y="4389120"/>
            <a:ext cx="73152" cy="15087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583680" y="44988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84280" y="4553712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583680" y="4773168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CFO Copilot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6583680" y="521208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queries, 90-day Prophet forecast, and an AI-narrated monthly summary. 2 days of Excel → 2 minutes.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48640" y="5943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MODULES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920240" y="594360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 ·  Sales Invoice  ·  Budget  ·  Vendor  ·  Accounts Receivable  ·  Accounts Payable  ·  Cash Flow  ·  Reporting  ·  Compliance  ·  Audit  ·  Shared Capabilities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BUILD 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FinanceAI Tech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pic>
        <p:nvPicPr>
          <p:cNvPr id="6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556248"/>
            <a:ext cx="868680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Sustainable Value  ·  3SC × Data Dakait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828800" cy="237744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691640"/>
            <a:ext cx="18288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9659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shadcn/ui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441448" y="1691640"/>
            <a:ext cx="1828800" cy="237744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441448" y="1691640"/>
            <a:ext cx="18288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528" y="19659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41448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532888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 · DRF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drf-spectacular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(OpenAPI)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334256" y="1691640"/>
            <a:ext cx="1828800" cy="237744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334256" y="1691640"/>
            <a:ext cx="18288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196596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334256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425696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Beat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jobs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timers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227064" y="1691640"/>
            <a:ext cx="1828800" cy="237744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227064" y="1691640"/>
            <a:ext cx="18288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7144" y="196596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27064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318504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blob store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(S3-compatible)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119872" y="1691640"/>
            <a:ext cx="1828800" cy="237744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119872" y="1691640"/>
            <a:ext cx="18288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9952" y="1965960"/>
            <a:ext cx="548640" cy="5486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119872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211312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(Vision + NL)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10012680" y="1691640"/>
            <a:ext cx="1828800" cy="237744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10012680" y="1691640"/>
            <a:ext cx="18288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52760" y="1965960"/>
            <a:ext cx="548640" cy="5486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001268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10104120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D365 BC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v4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pattern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Zero-rewrite swap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548640" y="4251960"/>
            <a:ext cx="5440680" cy="192024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7724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Stack</a:t>
            </a:r>
            <a:endParaRPr lang="en-US" sz="1600" dirty="0"/>
          </a:p>
        </p:txBody>
      </p:sp>
      <p:sp>
        <p:nvSpPr>
          <p:cNvPr id="40" name="Text 31"/>
          <p:cNvSpPr/>
          <p:nvPr/>
        </p:nvSpPr>
        <p:spPr>
          <a:xfrm>
            <a:off x="777240" y="48006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</a:t>
            </a:r>
            <a:r>
              <a:rPr lang="en-US" sz="11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FastAPI — auth, ORM, admin, migrations built-in. 3× productivity in 4 weeks.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 </a:t>
            </a:r>
            <a:r>
              <a:rPr lang="en-US" sz="11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GPT/Gemini — best-in-class vision OCR + structured output.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</a:t>
            </a:r>
            <a:r>
              <a:rPr lang="en-US" sz="11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Mongo — financial data is relational. Need ACID, FK constraints.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D365 </a:t>
            </a:r>
            <a:r>
              <a:rPr lang="en-US" sz="11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— forces clean interface from day 1. Production swap is free.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6172200" y="4251960"/>
            <a:ext cx="5440680" cy="192024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6400800" y="43891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Hackathon  →  Production</a:t>
            </a:r>
            <a:endParaRPr lang="en-US" sz="1600" dirty="0"/>
          </a:p>
        </p:txBody>
      </p:sp>
      <p:sp>
        <p:nvSpPr>
          <p:cNvPr id="43" name="Text 34"/>
          <p:cNvSpPr/>
          <p:nvPr/>
        </p:nvSpPr>
        <p:spPr>
          <a:xfrm>
            <a:off x="6400800" y="4800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7360920" y="48006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9006840" y="4800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Kubernetes + HPA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6400800" y="50566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7360920" y="50566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Postgres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9006840" y="50566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PG HA + replicas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6400800" y="53126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50" name="Text 41"/>
          <p:cNvSpPr/>
          <p:nvPr/>
        </p:nvSpPr>
        <p:spPr>
          <a:xfrm>
            <a:off x="7360920" y="53126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JWT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9006840" y="5312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Azure AD + MFA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6400800" y="55686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7360920" y="55686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adapter</a:t>
            </a:r>
            <a:endParaRPr lang="en-US" sz="1000" dirty="0"/>
          </a:p>
        </p:txBody>
      </p:sp>
      <p:sp>
        <p:nvSpPr>
          <p:cNvPr id="54" name="Text 45"/>
          <p:cNvSpPr/>
          <p:nvPr/>
        </p:nvSpPr>
        <p:spPr>
          <a:xfrm>
            <a:off x="9006840" y="55686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 BC OData v4</a:t>
            </a:r>
            <a:endParaRPr lang="en-US" sz="1000" dirty="0"/>
          </a:p>
        </p:txBody>
      </p:sp>
      <p:sp>
        <p:nvSpPr>
          <p:cNvPr id="55" name="Text 46"/>
          <p:cNvSpPr/>
          <p:nvPr/>
        </p:nvSpPr>
        <p:spPr>
          <a:xfrm>
            <a:off x="6400800" y="58247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000" dirty="0"/>
          </a:p>
        </p:txBody>
      </p:sp>
      <p:sp>
        <p:nvSpPr>
          <p:cNvPr id="56" name="Text 47"/>
          <p:cNvSpPr/>
          <p:nvPr/>
        </p:nvSpPr>
        <p:spPr>
          <a:xfrm>
            <a:off x="7360920" y="58247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files</a:t>
            </a:r>
            <a:endParaRPr lang="en-US" sz="1000" dirty="0"/>
          </a:p>
        </p:txBody>
      </p:sp>
      <p:sp>
        <p:nvSpPr>
          <p:cNvPr id="57" name="Text 48"/>
          <p:cNvSpPr/>
          <p:nvPr/>
        </p:nvSpPr>
        <p:spPr>
          <a:xfrm>
            <a:off x="9006840" y="58247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HashiCorp Vault</a:t>
            </a:r>
            <a:endParaRPr lang="en-US" sz="1000" dirty="0"/>
          </a:p>
        </p:txBody>
      </p:sp>
      <p:sp>
        <p:nvSpPr>
          <p:cNvPr id="58" name="Text 49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swappable. Scaling is a configuration problem, not a rewrite problem.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Vendor Bill to Ledger, in One Flow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pic>
        <p:nvPicPr>
          <p:cNvPr id="6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556248"/>
            <a:ext cx="868680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Sustainable Value  ·  3SC × Data Dakait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48056" y="1783080"/>
            <a:ext cx="1664208" cy="1371600"/>
          </a:xfrm>
          <a:prstGeom prst="rect">
            <a:avLst/>
          </a:prstGeom>
          <a:solidFill>
            <a:srgbClr val="FBF7EC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" y="18562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INGEST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3776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portal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Magic-link auth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30552" y="2359152"/>
            <a:ext cx="219456" cy="219456"/>
          </a:xfrm>
          <a:prstGeom prst="rightArrow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68296" y="1783080"/>
            <a:ext cx="1664208" cy="1371600"/>
          </a:xfrm>
          <a:prstGeom prst="rect">
            <a:avLst/>
          </a:prstGeom>
          <a:solidFill>
            <a:srgbClr val="FBF7EC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14016" y="18562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EXTRACT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14016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(~6 seconds)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14016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GSTIN · HSN · amounts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050792" y="2359152"/>
            <a:ext cx="219456" cy="219456"/>
          </a:xfrm>
          <a:prstGeom prst="rightArrow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88536" y="1783080"/>
            <a:ext cx="1664208" cy="1371600"/>
          </a:xfrm>
          <a:prstGeom prst="rect">
            <a:avLst/>
          </a:prstGeom>
          <a:solidFill>
            <a:srgbClr val="FBF7EC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34256" y="18562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VALIDATE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334256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334256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scoring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971032" y="2359152"/>
            <a:ext cx="219456" cy="219456"/>
          </a:xfrm>
          <a:prstGeom prst="rightArrow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08776" y="1783080"/>
            <a:ext cx="1664208" cy="1371600"/>
          </a:xfrm>
          <a:prstGeom prst="rect">
            <a:avLst/>
          </a:prstGeom>
          <a:solidFill>
            <a:srgbClr val="FBF7EC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54496" y="18562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APPROVE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54496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chain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 enforced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54496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→ L2 → HoD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Fin1 → Fin2 → Head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891272" y="2359152"/>
            <a:ext cx="219456" cy="219456"/>
          </a:xfrm>
          <a:prstGeom prst="rightArrow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29016" y="1783080"/>
            <a:ext cx="1664208" cy="1371600"/>
          </a:xfrm>
          <a:prstGeom prst="rect">
            <a:avLst/>
          </a:prstGeom>
          <a:solidFill>
            <a:srgbClr val="FBF7EC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74736" y="18562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BOOK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174736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adapter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v4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174736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invoice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confirm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9811512" y="2359152"/>
            <a:ext cx="219456" cy="219456"/>
          </a:xfrm>
          <a:prstGeom prst="rightArrow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049256" y="1783080"/>
            <a:ext cx="1664208" cy="1371600"/>
          </a:xfrm>
          <a:prstGeom prst="rect">
            <a:avLst/>
          </a:prstGeom>
          <a:solidFill>
            <a:srgbClr val="FBF7EC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094976" y="185623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PAY &amp; REPORT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0094976" y="2148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API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dashboard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094976" y="26517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UTR to vendor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forecast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280160" y="3154680"/>
            <a:ext cx="9601200" cy="0"/>
          </a:xfrm>
          <a:prstGeom prst="line">
            <a:avLst/>
          </a:prstGeom>
          <a:noFill/>
          <a:ln w="12700">
            <a:solidFill>
              <a:srgbClr val="D6CFC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080760" y="3200400"/>
            <a:ext cx="0" cy="274320"/>
          </a:xfrm>
          <a:prstGeom prst="line">
            <a:avLst/>
          </a:prstGeom>
          <a:noFill/>
          <a:ln w="12700">
            <a:solidFill>
              <a:srgbClr val="D6CFC0"/>
            </a:solidFill>
            <a:prstDash val="dash"/>
          </a:ln>
        </p:spPr>
      </p:sp>
      <p:sp>
        <p:nvSpPr>
          <p:cNvPr id="39" name="Shape 36"/>
          <p:cNvSpPr/>
          <p:nvPr/>
        </p:nvSpPr>
        <p:spPr>
          <a:xfrm>
            <a:off x="548640" y="3611880"/>
            <a:ext cx="11064240" cy="566928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48640" y="3611880"/>
            <a:ext cx="1645920" cy="566928"/>
          </a:xfrm>
          <a:prstGeom prst="rect">
            <a:avLst/>
          </a:prstGeom>
          <a:solidFill>
            <a:srgbClr val="6B7F5C"/>
          </a:solidFill>
          <a:ln w="12700">
            <a:solidFill>
              <a:srgbClr val="6B7F5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0080" y="3703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2331720" y="37033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 REST · Generic Approval Engine · State Machine · Celery workers · Audit Log (hash-chained)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48640" y="4270248"/>
            <a:ext cx="11064240" cy="566928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48640" y="4270248"/>
            <a:ext cx="1645920" cy="566928"/>
          </a:xfrm>
          <a:prstGeom prst="rect">
            <a:avLst/>
          </a:prstGeom>
          <a:solidFill>
            <a:srgbClr val="6B7F5C"/>
          </a:solidFill>
          <a:ln w="12700">
            <a:solidFill>
              <a:srgbClr val="6B7F5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080" y="43616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STORAGE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2331720" y="43616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(ACID, JSONB) · Redis (broker + cache) · MinIO / S3 (PDFs)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48640" y="4928616"/>
            <a:ext cx="11064240" cy="566928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48640" y="4928616"/>
            <a:ext cx="1645920" cy="566928"/>
          </a:xfrm>
          <a:prstGeom prst="rect">
            <a:avLst/>
          </a:prstGeom>
          <a:solidFill>
            <a:srgbClr val="6B7F5C"/>
          </a:solidFill>
          <a:ln w="12700">
            <a:solidFill>
              <a:srgbClr val="6B7F5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0080" y="50200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&amp; AI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331720" y="50200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 (via Masking Middleware) · Mock D365 → Real BC OData v4 · Bank API · Email</a:t>
            </a:r>
            <a:endParaRPr lang="en-US" sz="1100" dirty="0"/>
          </a:p>
        </p:txBody>
      </p:sp>
      <p:pic>
        <p:nvPicPr>
          <p:cNvPr id="5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852160"/>
            <a:ext cx="274320" cy="274320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914400" y="5779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PII chokepoint</a:t>
            </a:r>
            <a:endParaRPr lang="en-US" sz="1000" dirty="0"/>
          </a:p>
        </p:txBody>
      </p:sp>
      <p:sp>
        <p:nvSpPr>
          <p:cNvPr id="53" name="Text 49"/>
          <p:cNvSpPr/>
          <p:nvPr/>
        </p:nvSpPr>
        <p:spPr>
          <a:xfrm>
            <a:off x="914400" y="5961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Middleware</a:t>
            </a:r>
            <a:endParaRPr lang="en-US" sz="900" dirty="0"/>
          </a:p>
        </p:txBody>
      </p:sp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5852160"/>
            <a:ext cx="274320" cy="274320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3703320" y="5779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generic approval engine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3703320" y="5961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by 8 workflows</a:t>
            </a:r>
            <a:endParaRPr lang="en-US" sz="900" dirty="0"/>
          </a:p>
        </p:txBody>
      </p:sp>
      <p:pic>
        <p:nvPicPr>
          <p:cNvPr id="5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5852160"/>
            <a:ext cx="274320" cy="274320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6492240" y="5779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6492240" y="5961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defense layers</a:t>
            </a:r>
            <a:endParaRPr lang="en-US" sz="900" dirty="0"/>
          </a:p>
        </p:txBody>
      </p:sp>
      <p:pic>
        <p:nvPicPr>
          <p:cNvPr id="6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5852160"/>
            <a:ext cx="274320" cy="274320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9281160" y="5779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Adapter-swap D365</a:t>
            </a:r>
            <a:endParaRPr lang="en-US" sz="1000" dirty="0"/>
          </a:p>
        </p:txBody>
      </p:sp>
      <p:sp>
        <p:nvSpPr>
          <p:cNvPr id="62" name="Text 55"/>
          <p:cNvSpPr/>
          <p:nvPr/>
        </p:nvSpPr>
        <p:spPr>
          <a:xfrm>
            <a:off x="9281160" y="5961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zero-rewrite to production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Buildable in 4 Weeks. Scalable to 100k Bills/Day.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pic>
        <p:nvPicPr>
          <p:cNvPr id="6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556248"/>
            <a:ext cx="868680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Sustainable Value  ·  3SC × Data Dakait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MVP PLAN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685800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139696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34440" y="1965960"/>
            <a:ext cx="4434840" cy="658368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0299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71600" y="22677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skeleton · auth · vendor module · mock D365 adapter · file upload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2715768"/>
            <a:ext cx="685800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88950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234440" y="2715768"/>
            <a:ext cx="4434840" cy="658368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0" y="27797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pipeline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71600" y="3017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 OCR pipeline · Expense module · 6-step approval engine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" y="3465576"/>
            <a:ext cx="685800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6393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W3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34440" y="3465576"/>
            <a:ext cx="4434840" cy="658368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71600" y="35295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0" y="37673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· audit log · real-time budget check · notifications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48640" y="4215384"/>
            <a:ext cx="685800" cy="6583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38912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W4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234440" y="4215384"/>
            <a:ext cx="4434840" cy="658368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71600" y="42793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CFO layer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371600" y="45171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query · AI monthly summary · CFO dashboard · demo polish &amp; dry run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943600" y="1645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943600" y="1965960"/>
            <a:ext cx="5669280" cy="438912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066544"/>
            <a:ext cx="502920" cy="23774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35040" y="20665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629400" y="19933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 on Indian invoices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29400" y="21854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+ human fallback &lt; 85%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943600" y="2441448"/>
            <a:ext cx="5669280" cy="438912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42032"/>
            <a:ext cx="502920" cy="23774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035040" y="25420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629400" y="24688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leakage via Claude API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629400" y="266090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masking chokepoint; bank stripped, names tokenized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943600" y="2916936"/>
            <a:ext cx="5669280" cy="438912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035040" y="3017520"/>
            <a:ext cx="502920" cy="23774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035040" y="30175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629400" y="29443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tampering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6629400" y="31363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layers: app → ORM → DB trigger → SHA256 hash chain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5943600" y="3392424"/>
            <a:ext cx="5669280" cy="438912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035040" y="3493008"/>
            <a:ext cx="502920" cy="23774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035040" y="34930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629400" y="341985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SoD edge cases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6629400" y="36118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SoD + hourly continuous scanner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943600" y="3867912"/>
            <a:ext cx="5669280" cy="438912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35040" y="3968496"/>
            <a:ext cx="502920" cy="23774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035040" y="39684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629400" y="389534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 integration complexity</a:t>
            </a:r>
            <a:endParaRPr lang="en-US" sz="1050" dirty="0"/>
          </a:p>
        </p:txBody>
      </p:sp>
      <p:sp>
        <p:nvSpPr>
          <p:cNvPr id="54" name="Text 51"/>
          <p:cNvSpPr/>
          <p:nvPr/>
        </p:nvSpPr>
        <p:spPr>
          <a:xfrm>
            <a:off x="6629400" y="40873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BC with adapter pattern; zero-rewrite swap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5943600" y="4343400"/>
            <a:ext cx="5669280" cy="438912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035040" y="4443984"/>
            <a:ext cx="502920" cy="237744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035040" y="444398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629400" y="43708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adoption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6629400" y="456285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Magic-link auth, 3-click submit, mobile-first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548640" y="5257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PATH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548640" y="5532120"/>
            <a:ext cx="2674620" cy="777240"/>
          </a:xfrm>
          <a:prstGeom prst="rect">
            <a:avLst/>
          </a:prstGeom>
          <a:solidFill>
            <a:srgbClr val="FBF7EC"/>
          </a:solidFill>
          <a:ln w="12700">
            <a:solidFill>
              <a:srgbClr val="6B7F5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85800" y="5641848"/>
            <a:ext cx="2400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685800" y="5824728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100/day</a:t>
            </a:r>
            <a:endParaRPr lang="en-US" sz="1700" dirty="0"/>
          </a:p>
        </p:txBody>
      </p:sp>
      <p:sp>
        <p:nvSpPr>
          <p:cNvPr id="64" name="Text 61"/>
          <p:cNvSpPr/>
          <p:nvPr/>
        </p:nvSpPr>
        <p:spPr>
          <a:xfrm>
            <a:off x="685800" y="6080760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3342132" y="5532120"/>
            <a:ext cx="2674620" cy="777240"/>
          </a:xfrm>
          <a:prstGeom prst="rect">
            <a:avLst/>
          </a:prstGeom>
          <a:solidFill>
            <a:srgbClr val="FBF7EC"/>
          </a:solidFill>
          <a:ln w="12700">
            <a:solidFill>
              <a:srgbClr val="6B7F5C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479292" y="5641848"/>
            <a:ext cx="2400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3479292" y="5824728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1k/day</a:t>
            </a:r>
            <a:endParaRPr lang="en-US" sz="1700" dirty="0"/>
          </a:p>
        </p:txBody>
      </p:sp>
      <p:sp>
        <p:nvSpPr>
          <p:cNvPr id="68" name="Text 65"/>
          <p:cNvSpPr/>
          <p:nvPr/>
        </p:nvSpPr>
        <p:spPr>
          <a:xfrm>
            <a:off x="3479292" y="6080760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+ HPA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6135624" y="5532120"/>
            <a:ext cx="2674620" cy="777240"/>
          </a:xfrm>
          <a:prstGeom prst="rect">
            <a:avLst/>
          </a:prstGeom>
          <a:solidFill>
            <a:srgbClr val="FBF7EC"/>
          </a:solidFill>
          <a:ln w="12700">
            <a:solidFill>
              <a:srgbClr val="6B7F5C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272784" y="5641848"/>
            <a:ext cx="2400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6272784" y="5824728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10k/day</a:t>
            </a:r>
            <a:endParaRPr lang="en-US" sz="1700" dirty="0"/>
          </a:p>
        </p:txBody>
      </p:sp>
      <p:sp>
        <p:nvSpPr>
          <p:cNvPr id="72" name="Text 69"/>
          <p:cNvSpPr/>
          <p:nvPr/>
        </p:nvSpPr>
        <p:spPr>
          <a:xfrm>
            <a:off x="6272784" y="6080760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replicas + CDN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8929116" y="5532120"/>
            <a:ext cx="2674620" cy="777240"/>
          </a:xfrm>
          <a:prstGeom prst="rect">
            <a:avLst/>
          </a:prstGeom>
          <a:solidFill>
            <a:srgbClr val="FBF7EC"/>
          </a:solidFill>
          <a:ln w="12700">
            <a:solidFill>
              <a:srgbClr val="6B7F5C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066276" y="5641848"/>
            <a:ext cx="24003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9066276" y="5824728"/>
            <a:ext cx="2400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100k/day</a:t>
            </a:r>
            <a:endParaRPr lang="en-US" sz="1700" dirty="0"/>
          </a:p>
        </p:txBody>
      </p:sp>
      <p:sp>
        <p:nvSpPr>
          <p:cNvPr id="76" name="Text 73"/>
          <p:cNvSpPr/>
          <p:nvPr/>
        </p:nvSpPr>
        <p:spPr>
          <a:xfrm>
            <a:off x="9066276" y="6080760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+ Kafka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Changes on Day One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pic>
        <p:nvPicPr>
          <p:cNvPr id="6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556248"/>
            <a:ext cx="868680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Sustainable Value  ·  3SC × Data Dakait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7498080" cy="347472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17373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584448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93208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FinanceAI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01968" y="17373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039112"/>
            <a:ext cx="7498080" cy="384048"/>
          </a:xfrm>
          <a:prstGeom prst="rect">
            <a:avLst/>
          </a:prstGeom>
          <a:solidFill>
            <a:srgbClr val="FBF7EC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11226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processing time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84448" y="21122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93208" y="21122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01968" y="21122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faster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2423160"/>
            <a:ext cx="7498080" cy="384048"/>
          </a:xfrm>
          <a:prstGeom prst="rect">
            <a:avLst/>
          </a:prstGeom>
          <a:solidFill>
            <a:srgbClr val="F5EFE3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24963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 time on ops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584448" y="24963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093208" y="24963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601968" y="24963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freed for analysis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2807208"/>
            <a:ext cx="7498080" cy="384048"/>
          </a:xfrm>
          <a:prstGeom prst="rect">
            <a:avLst/>
          </a:prstGeom>
          <a:solidFill>
            <a:srgbClr val="FBF7EC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" y="28803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budget overruns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584448" y="2880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93208" y="28803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601968" y="28803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reduction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3191256"/>
            <a:ext cx="7498080" cy="384048"/>
          </a:xfrm>
          <a:prstGeom prst="rect">
            <a:avLst/>
          </a:prstGeom>
          <a:solidFill>
            <a:srgbClr val="F5EFE3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326440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45-day breaches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584448" y="32644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 of bills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093208" y="32644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(enforced)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601968" y="326440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compliant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3575304"/>
            <a:ext cx="7498080" cy="384048"/>
          </a:xfrm>
          <a:prstGeom prst="rect">
            <a:avLst/>
          </a:prstGeom>
          <a:solidFill>
            <a:srgbClr val="FBF7EC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" y="36484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report generation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84448" y="3648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093208" y="3648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601968" y="36484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~1000× faster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48640" y="3959352"/>
            <a:ext cx="7498080" cy="384048"/>
          </a:xfrm>
          <a:prstGeom prst="rect">
            <a:avLst/>
          </a:prstGeom>
          <a:solidFill>
            <a:srgbClr val="F5EFE3"/>
          </a:solidFill>
          <a:ln w="6350">
            <a:solidFill>
              <a:srgbClr val="D6CFC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368" y="403250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bill detection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3584448" y="40325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5093208" y="40325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95%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6601968" y="40325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~10× better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229600" y="1691640"/>
            <a:ext cx="3383280" cy="2697480"/>
          </a:xfrm>
          <a:prstGeom prst="rect">
            <a:avLst/>
          </a:prstGeom>
          <a:solidFill>
            <a:srgbClr val="FBF7EC"/>
          </a:solidFill>
          <a:ln w="12700">
            <a:solidFill>
              <a:srgbClr val="6B7F5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229600" y="1691640"/>
            <a:ext cx="3383280" cy="347472"/>
          </a:xfrm>
          <a:prstGeom prst="rect">
            <a:avLst/>
          </a:prstGeom>
          <a:solidFill>
            <a:srgbClr val="6B7F5C"/>
          </a:solidFill>
          <a:ln w="12700">
            <a:solidFill>
              <a:srgbClr val="6B7F5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366760" y="17465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F5EFE3"/>
                </a:solidFill>
                <a:latin typeface="Calibri"/>
                <a:ea typeface="Calibri"/>
                <a:cs typeface="Calibri"/>
              </a:rPr>
              <a:t>SOCIAL IMPACT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8366760" y="210312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support
</a:t>
            </a:r>
            <a:r>
              <a:rPr lang="en-US" sz="9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Section 43B(h) on-time payment to small vendors.
</a:t>
            </a: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India
</a:t>
            </a:r>
            <a:r>
              <a:rPr lang="en-US" sz="9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SMEs off Excel + email into real automation.
</a:t>
            </a: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Higher-value jobs
</a:t>
            </a:r>
            <a:r>
              <a:rPr lang="en-US" sz="9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finance work from data entry to analysis.
</a:t>
            </a:r>
            <a:r>
              <a:rPr lang="en-US" sz="10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compliance
</a:t>
            </a:r>
            <a:r>
              <a:rPr lang="en-US" sz="9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GST / TDS leakage at national level.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548640" y="4343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48640" y="4663440"/>
            <a:ext cx="2121408" cy="114300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48640" y="4663440"/>
            <a:ext cx="2121408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85800" y="48006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 Teams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685800" y="51206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ticketing.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strategy.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2788920" y="4663440"/>
            <a:ext cx="2121408" cy="114300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788920" y="4663440"/>
            <a:ext cx="2121408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926080" y="48006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CFOs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2926080" y="51206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cash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9 am.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5029200" y="4663440"/>
            <a:ext cx="2121408" cy="114300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029200" y="4663440"/>
            <a:ext cx="2121408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166360" y="48006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Vendors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5166360" y="51206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 submit.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faster.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7269480" y="4663440"/>
            <a:ext cx="2121408" cy="114300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269480" y="4663440"/>
            <a:ext cx="2121408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406640" y="48006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Employees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7406640" y="51206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approvals.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trail.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9509760" y="4663440"/>
            <a:ext cx="2121408" cy="114300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509760" y="4663440"/>
            <a:ext cx="2121408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646920" y="48006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Auditors</a:t>
            </a:r>
            <a:endParaRPr lang="en-US" sz="1300" dirty="0"/>
          </a:p>
        </p:txBody>
      </p:sp>
      <p:sp>
        <p:nvSpPr>
          <p:cNvPr id="67" name="Text 64"/>
          <p:cNvSpPr/>
          <p:nvPr/>
        </p:nvSpPr>
        <p:spPr>
          <a:xfrm>
            <a:off x="9646920" y="512064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log.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PDF export.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Before/After values are 3SC internal baselines from FRD v2.0 (Apr 2026). Targets reflect 4-week MVP scope against current manual baseline.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SOLID GROUND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&amp; References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6473952"/>
            <a:ext cx="1106424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pic>
        <p:nvPicPr>
          <p:cNvPr id="6" name="Image 0" descr="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6556248"/>
            <a:ext cx="868680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Sustainable Value  ·  3SC × Data Dakait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3566160" cy="425196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9280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&amp; Standards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31520" y="2350008"/>
            <a:ext cx="320040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2514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43B(h), Income Tax Act (India)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31520" y="2788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45-day rule — non-payment disallows deduction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3152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Council e-invoice framework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3152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IRN generation for B2B turnover &gt; ₹5 Cr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731520" y="4251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Udyam registration portal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31520" y="4526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for vendor MSME status verification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31520" y="5120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/ SOC 2 control frameworks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31520" y="5394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masking middleware &amp; audit log design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297680" y="1691640"/>
            <a:ext cx="3566160" cy="425196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1892808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9204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Foundations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480560" y="2350008"/>
            <a:ext cx="320040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480560" y="2514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Dynamics 365 Business Central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480560" y="2788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v4 API — standard enterprise BC integration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48056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 documentation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48056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API for OCR + structured outputs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4480560" y="4251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— Taylor &amp; Letham, Meta (2017)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480560" y="4526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time-series forecasting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4480560" y="5120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— Liu, Ting, Zhou (2008)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480560" y="5394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ICDM paper, academic basis for anomaly detection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8046720" y="1691640"/>
            <a:ext cx="3566160" cy="4251960"/>
          </a:xfrm>
          <a:prstGeom prst="rect">
            <a:avLst/>
          </a:prstGeom>
          <a:solidFill>
            <a:srgbClr val="FBF7EC"/>
          </a:solidFill>
          <a:ln w="9525">
            <a:solidFill>
              <a:srgbClr val="D6CFC0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892808"/>
            <a:ext cx="320040" cy="32004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64108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&amp; Differentiation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8229600" y="2350008"/>
            <a:ext cx="3200400" cy="9144"/>
          </a:xfrm>
          <a:prstGeom prst="rect">
            <a:avLst/>
          </a:prstGeom>
          <a:solidFill>
            <a:srgbClr val="D6CFC0"/>
          </a:solidFill>
          <a:ln w="12700">
            <a:solidFill>
              <a:srgbClr val="D6CFC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8229600" y="2514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 v2.0 — 3SC Solutions (Apr 2026)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8229600" y="2788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source: real company, real pain points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822960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Concur / Coupa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8229600" y="3657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weak on Indian compliance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8229600" y="4251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Books / Tally Prime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8229600" y="4526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Bookkeeping-first, limited workflow automation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8229600" y="5120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X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8229600" y="5394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Payments-only, not workflow-driven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unique contribution: first AI-native Indian finance automation layer to combine OCR + anomaly + approvals + compliance + forecasting + NL query in one integrated product.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FinanceAI — SIH Ideation</dc:title>
  <dc:subject>PptxGenJS Presentation</dc:subject>
  <dc:creator>3SC x Data Dakait</dc:creator>
  <cp:lastModifiedBy>3SC x Data Dakait</cp:lastModifiedBy>
  <cp:revision>45</cp:revision>
  <dcterms:created xsi:type="dcterms:W3CDTF">2026-04-09T22:01:06Z</dcterms:created>
  <dcterms:modified xsi:type="dcterms:W3CDTF">2026-04-10T05:35:15Z</dcterms:modified>
</cp:coreProperties>
</file>